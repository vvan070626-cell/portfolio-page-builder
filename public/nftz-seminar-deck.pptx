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Override4.xml" ContentType="application/vnd.openxmlformats-officedocument.themeOverr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58" r:id="rId4"/>
    <p:sldId id="567" r:id="rId5"/>
    <p:sldId id="557" r:id="rId6"/>
    <p:sldId id="558" r:id="rId7"/>
    <p:sldId id="553" r:id="rId8"/>
    <p:sldId id="560" r:id="rId9"/>
    <p:sldId id="561" r:id="rId10"/>
    <p:sldId id="554" r:id="rId11"/>
    <p:sldId id="263" r:id="rId12"/>
    <p:sldId id="562" r:id="rId13"/>
    <p:sldId id="555" r:id="rId14"/>
    <p:sldId id="563" r:id="rId15"/>
    <p:sldId id="564" r:id="rId16"/>
    <p:sldId id="565" r:id="rId17"/>
    <p:sldId id="566" r:id="rId18"/>
    <p:sldId id="262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0486"/>
    <a:srgbClr val="00082F"/>
    <a:srgbClr val="00041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73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7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8154A10-A089-35E4-92F4-C8C2ABCA4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309633"/>
            <a:ext cx="6747328" cy="1200329"/>
          </a:xfrm>
        </p:spPr>
        <p:txBody>
          <a:bodyPr vert="horz" wrap="square" lIns="91440" tIns="45720" rIns="91440" bIns="45720" rtlCol="0" anchor="b">
            <a:spAutoFit/>
          </a:bodyPr>
          <a:lstStyle>
            <a:lvl1pPr algn="l">
              <a:defRPr lang="zh-CN" altLang="en-US" sz="4000" b="1" dirty="0"/>
            </a:lvl1pPr>
          </a:lstStyle>
          <a:p>
            <a:pPr lvl="0" defTabSz="914354"/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400" y="3744325"/>
            <a:ext cx="3467100" cy="360612"/>
          </a:xfrm>
          <a:prstGeom prst="roundRect">
            <a:avLst>
              <a:gd name="adj" fmla="val 0"/>
            </a:avLst>
          </a:prstGeom>
          <a:solidFill>
            <a:schemeClr val="accent2"/>
          </a:solidFill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spcBef>
                <a:spcPts val="0"/>
              </a:spcBef>
              <a:buNone/>
              <a:defRPr lang="zh-CN" altLang="en-US" sz="1600">
                <a:solidFill>
                  <a:schemeClr val="tx1"/>
                </a:solidFill>
              </a:defRPr>
            </a:lvl1pPr>
          </a:lstStyle>
          <a:p>
            <a:pPr marL="228600" lvl="0" indent="-228600" defTabSz="914354"/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069348"/>
            <a:ext cx="5568950" cy="293607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365619"/>
            <a:ext cx="5568950" cy="293607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OfficePLUS.cn</a:t>
            </a:r>
            <a:endParaRPr lang="en-US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4EF3F9F2-2DBE-4016-9D2B-F5CF4BE8E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725232"/>
            <a:ext cx="1099981" cy="293607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>
              <a:buNone/>
              <a:defRPr lang="en-US" altLang="zh-CN" sz="1200" b="0" smtClean="0">
                <a:solidFill>
                  <a:schemeClr val="tx1"/>
                </a:solidFill>
              </a:defRPr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LGOO HERE</a:t>
            </a: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E6FF3-E480-4C96-9DE0-054940E7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AEBE-086C-4980-A4E1-E89EE17EFFB9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DFAA1-D4C3-4306-A3AE-0641E358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E0EBE-EC20-4150-A2C6-9837F34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100" y="1500188"/>
            <a:ext cx="2836562" cy="424732"/>
          </a:xfrm>
        </p:spPr>
        <p:txBody>
          <a:bodyPr>
            <a:spAutoFit/>
          </a:bodyPr>
          <a:lstStyle>
            <a:lvl1pPr marL="0" indent="0" algn="r">
              <a:buFont typeface="+mj-lt"/>
              <a:buNone/>
              <a:defRPr sz="2400" b="1"/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F0FD1-3ACE-43A8-AF57-CC0D436DC7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0536" y="1500187"/>
            <a:ext cx="7871045" cy="463391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ea"/>
              <a:buAutoNum type="circleNumDbPlain"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EA95BB-0FD6-4D94-81DB-8D3806981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73101" y="6423740"/>
            <a:ext cx="3992171" cy="24622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2568E-3CA5-4FDE-A375-CB503A7EDE3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517356" y="6423740"/>
            <a:ext cx="1802924" cy="246221"/>
          </a:xfrm>
        </p:spPr>
        <p:txBody>
          <a:bodyPr/>
          <a:lstStyle/>
          <a:p>
            <a:fld id="{AC4CC43B-9EB6-4465-8B1A-3F7180DAD0DF}" type="datetime1">
              <a:rPr lang="zh-CN" altLang="en-US" smtClean="0"/>
              <a:t>2026/5/27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EAC383-637D-4997-B597-28ADC11A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0" name="î$ļíďé">
            <a:extLst>
              <a:ext uri="{FF2B5EF4-FFF2-40B4-BE49-F238E27FC236}">
                <a16:creationId xmlns:a16="http://schemas.microsoft.com/office/drawing/2014/main" id="{5866F782-5852-4C4E-B3FE-2AD687E8AC1B}"/>
              </a:ext>
            </a:extLst>
          </p:cNvPr>
          <p:cNvCxnSpPr>
            <a:cxnSpLocks/>
          </p:cNvCxnSpPr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iṣ1îḓe">
            <a:extLst>
              <a:ext uri="{FF2B5EF4-FFF2-40B4-BE49-F238E27FC236}">
                <a16:creationId xmlns:a16="http://schemas.microsoft.com/office/drawing/2014/main" id="{3CCCD118-A808-47B5-869B-310AF975DC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977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汽车的轮胎&#10;&#10;低可信度描述已自动生成">
            <a:extLst>
              <a:ext uri="{FF2B5EF4-FFF2-40B4-BE49-F238E27FC236}">
                <a16:creationId xmlns:a16="http://schemas.microsoft.com/office/drawing/2014/main" id="{8F0317E7-E6D5-FF12-A819-ACD674517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6999" y="-2666999"/>
            <a:ext cx="6858003" cy="12192002"/>
          </a:xfrm>
          <a:prstGeom prst="rect">
            <a:avLst/>
          </a:prstGeom>
        </p:spPr>
      </p:pic>
      <p:sp>
        <p:nvSpPr>
          <p:cNvPr id="9" name="iŝliḓê">
            <a:extLst>
              <a:ext uri="{FF2B5EF4-FFF2-40B4-BE49-F238E27FC236}">
                <a16:creationId xmlns:a16="http://schemas.microsoft.com/office/drawing/2014/main" id="{CF11F895-4A45-0F2E-8F66-C623F51C9C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250486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581" y="3216634"/>
            <a:ext cx="5182839" cy="424732"/>
          </a:xfrm>
        </p:spPr>
        <p:txBody>
          <a:bodyPr vert="horz" wrap="square" lIns="91440" tIns="45720" rIns="91440" bIns="45720" rtlCol="0" anchor="b">
            <a:spAutoFit/>
          </a:bodyPr>
          <a:lstStyle>
            <a:lvl1pPr algn="ctr">
              <a:defRPr lang="zh-CN" altLang="en-US" sz="2400"/>
            </a:lvl1pPr>
          </a:lstStyle>
          <a:p>
            <a:pPr lvl="0" defTabSz="914354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04581" y="3641366"/>
            <a:ext cx="5182839" cy="293607"/>
          </a:xfrm>
        </p:spPr>
        <p:txBody>
          <a:bodyPr wrap="square">
            <a:spAutoFit/>
          </a:bodyPr>
          <a:lstStyle>
            <a:lvl1pPr marL="0" indent="0" algn="ctr">
              <a:buNone/>
              <a:def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79D9A-DC49-4C12-80D3-3D89C278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4F10D-3A58-4285-A9DB-D9098A7BEDDD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F8C95-8814-4768-850F-851B6434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4C1D7-7C5A-49B3-9D05-119C615E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14619F-25D0-4307-81CD-C24C74EF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5987-9647-4253-899C-3B9819D6D8A0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2B25F-898B-4C1A-94A9-699B8B55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42F0A-76EB-4E77-8AF6-5F91F228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CBEB-8597-4EA4-9D29-E1D7025CFAA0}" type="datetime1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背景图案&#10;&#10;描述已自动生成">
            <a:extLst>
              <a:ext uri="{FF2B5EF4-FFF2-40B4-BE49-F238E27FC236}">
                <a16:creationId xmlns:a16="http://schemas.microsoft.com/office/drawing/2014/main" id="{4A57F4AF-E688-BDAD-7A0D-88A0FBCB28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3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62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C09CDF-4E25-DA75-9CE0-79F3F2550D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791531"/>
            <a:ext cx="6223000" cy="628955"/>
          </a:xfrm>
        </p:spPr>
        <p:txBody>
          <a:bodyPr vert="horz" wrap="square" lIns="91440" tIns="45720" rIns="91440" bIns="45720" rtlCol="0" anchor="b">
            <a:spAutoFit/>
          </a:bodyPr>
          <a:lstStyle>
            <a:lvl1pPr marL="0" indent="0" algn="l">
              <a:buNone/>
              <a:defRPr lang="en-US" altLang="zh-CN" sz="3200" b="1" smtClean="0"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 dirty="0"/>
              <a:t>Click to edit Master text styles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C428848-58C6-4501-8214-B803889F2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4951762"/>
            <a:ext cx="6223000" cy="293607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01EED25-4D2A-435D-A5F9-01DCC2F074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5248033"/>
            <a:ext cx="6223000" cy="293607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OfficePLUS.cn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480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>
            <a:extLst>
              <a:ext uri="{FF2B5EF4-FFF2-40B4-BE49-F238E27FC236}">
                <a16:creationId xmlns:a16="http://schemas.microsoft.com/office/drawing/2014/main" id="{D53180D2-961C-8D10-DE44-F3DC9E52D81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48569"/>
            <a:ext cx="10858500" cy="4801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 defTabSz="914354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1658083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23740"/>
            <a:ext cx="3992171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6" y="6423740"/>
            <a:ext cx="1802924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BAC152-C384-4126-A41C-02F34DED3069}" type="datetime1">
              <a:rPr lang="zh-CN" altLang="en-US" smtClean="0"/>
              <a:t>2026/5/27</a:t>
            </a:fld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23740"/>
            <a:ext cx="2661448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915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4" r:id="rId5"/>
    <p:sldLayoutId id="2147483655" r:id="rId6"/>
    <p:sldLayoutId id="214748365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C2532AA-A647-48FF-8A25-36777AF5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901404"/>
            <a:ext cx="6747328" cy="1920526"/>
          </a:xfrm>
        </p:spPr>
        <p:txBody>
          <a:bodyPr/>
          <a:lstStyle/>
          <a:p>
            <a:r>
              <a:rPr lang="en-CN" sz="6600" dirty="0"/>
              <a:t>NFTz</a:t>
            </a:r>
            <a:br>
              <a:rPr lang="en-CN" sz="6600" dirty="0"/>
            </a:br>
            <a:r>
              <a:rPr lang="en-CN" sz="6600" dirty="0"/>
              <a:t>Critical Analysis</a:t>
            </a:r>
            <a:endParaRPr lang="en-GB" altLang="zh-CN" sz="4400" dirty="0">
              <a:sym typeface="Arial" panose="020B0604020202020204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102F8CF-8DD3-43E5-B521-501A3CF12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63" y="4025897"/>
            <a:ext cx="1822324" cy="507088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pPr algn="ctr"/>
            <a:r>
              <a:rPr lang="en-US" altLang="zh-CN" dirty="0"/>
              <a:t>Group</a:t>
            </a:r>
            <a:r>
              <a:rPr lang="en-US" altLang="zh-CN" sz="1400" dirty="0"/>
              <a:t>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E21516B-4ABB-4E09-987D-1ABA411225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4765071"/>
            <a:ext cx="5568950" cy="1102674"/>
          </a:xfrm>
        </p:spPr>
        <p:txBody>
          <a:bodyPr/>
          <a:lstStyle/>
          <a:p>
            <a:r>
              <a:rPr lang="en-US" sz="1400" dirty="0"/>
              <a:t>Nicolette - </a:t>
            </a:r>
            <a:r>
              <a:rPr lang="en-US" sz="1400" dirty="0" err="1"/>
              <a:t>Anqi</a:t>
            </a:r>
            <a:r>
              <a:rPr lang="en-US" sz="1400" dirty="0"/>
              <a:t> Xiang</a:t>
            </a:r>
            <a:br>
              <a:rPr lang="en-US" sz="1400" dirty="0"/>
            </a:br>
            <a:r>
              <a:rPr lang="en-US" sz="1400" dirty="0" err="1"/>
              <a:t>Sissi</a:t>
            </a:r>
            <a:r>
              <a:rPr lang="en-US" sz="1400" dirty="0"/>
              <a:t> - </a:t>
            </a:r>
            <a:r>
              <a:rPr lang="en-US" sz="1400" dirty="0" err="1"/>
              <a:t>Nianxi</a:t>
            </a:r>
            <a:r>
              <a:rPr lang="en-US" sz="1400" dirty="0"/>
              <a:t> Wang</a:t>
            </a:r>
            <a:br>
              <a:rPr lang="en-US" sz="1400" dirty="0"/>
            </a:br>
            <a:r>
              <a:rPr lang="en-US" sz="1400" dirty="0" err="1"/>
              <a:t>Sozy</a:t>
            </a:r>
            <a:r>
              <a:rPr lang="en-US" sz="1400" dirty="0"/>
              <a:t> - </a:t>
            </a:r>
            <a:r>
              <a:rPr lang="en-US" sz="1400" dirty="0" err="1"/>
              <a:t>Ziyi</a:t>
            </a:r>
            <a:r>
              <a:rPr lang="en-US" sz="1400" dirty="0"/>
              <a:t> Shao</a:t>
            </a:r>
            <a:br>
              <a:rPr lang="en-US" sz="1400" dirty="0"/>
            </a:br>
            <a:r>
              <a:rPr lang="en-US" sz="1400" dirty="0"/>
              <a:t>Vivian - </a:t>
            </a:r>
            <a:r>
              <a:rPr lang="en-US" sz="1400" dirty="0" err="1"/>
              <a:t>Hanzhi</a:t>
            </a:r>
            <a:r>
              <a:rPr lang="en-US" sz="1400" dirty="0"/>
              <a:t> Wang</a:t>
            </a:r>
            <a:endParaRPr lang="en-CN" sz="1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03171C0-8F5E-452D-80D2-8537CBEA6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altLang="zh-CN" dirty="0"/>
              <a:t>Assignment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42142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图片包含 游戏机, 动物&#10;&#10;描述已自动生成">
            <a:extLst>
              <a:ext uri="{FF2B5EF4-FFF2-40B4-BE49-F238E27FC236}">
                <a16:creationId xmlns:a16="http://schemas.microsoft.com/office/drawing/2014/main" id="{A7FC92BC-C125-0123-9991-6B869A420EE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00"/>
          <a:stretch/>
        </p:blipFill>
        <p:spPr>
          <a:xfrm flipV="1">
            <a:off x="0" y="-1"/>
            <a:ext cx="12192000" cy="685799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C5F1D-2F12-47ED-BD76-3F60ED1D99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2961" y="1187491"/>
            <a:ext cx="3700037" cy="840230"/>
          </a:xfrm>
        </p:spPr>
        <p:txBody>
          <a:bodyPr vert="horz" wrap="square" lIns="91440" tIns="45720" rIns="91440" bIns="4572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altLang="zh-CN" sz="5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Overview</a:t>
            </a:r>
            <a:endParaRPr lang="en-GB" altLang="zh-CN" sz="54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73890B8-8D18-9C00-D769-27C9831B9107}"/>
              </a:ext>
            </a:extLst>
          </p:cNvPr>
          <p:cNvSpPr/>
          <p:nvPr/>
        </p:nvSpPr>
        <p:spPr>
          <a:xfrm>
            <a:off x="1364881" y="3066080"/>
            <a:ext cx="900002" cy="900000"/>
          </a:xfrm>
          <a:prstGeom prst="ellipse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A6A1AE5-1514-B5D0-992F-B2E3506A0BAF}"/>
              </a:ext>
            </a:extLst>
          </p:cNvPr>
          <p:cNvSpPr/>
          <p:nvPr/>
        </p:nvSpPr>
        <p:spPr>
          <a:xfrm>
            <a:off x="1364881" y="2860610"/>
            <a:ext cx="540001" cy="540000"/>
          </a:xfrm>
          <a:prstGeom prst="ellipse">
            <a:avLst/>
          </a:prstGeom>
          <a:solidFill>
            <a:schemeClr val="accent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r>
              <a:rPr lang="en-US" altLang="zh-CN" sz="1400" b="1" dirty="0">
                <a:solidFill>
                  <a:srgbClr val="FFFFFF"/>
                </a:solidFill>
              </a:rPr>
              <a:t>01</a:t>
            </a:r>
            <a:endParaRPr lang="zh-CN" altLang="en-US" sz="1400" b="1" dirty="0">
              <a:solidFill>
                <a:srgbClr val="FFFF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6F5C9-31DA-9AB3-1B93-D78CD61EB6C4}"/>
              </a:ext>
            </a:extLst>
          </p:cNvPr>
          <p:cNvSpPr txBox="1"/>
          <p:nvPr/>
        </p:nvSpPr>
        <p:spPr>
          <a:xfrm>
            <a:off x="2264883" y="2764991"/>
            <a:ext cx="4169390" cy="494624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/>
          <a:p>
            <a:r>
              <a:rPr lang="en-US" altLang="zh-CN" sz="2600" b="1" dirty="0"/>
              <a:t>Qualitative evaluation</a:t>
            </a:r>
            <a:endParaRPr lang="zh-CN" altLang="en-US" sz="26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4032D1-2692-2874-2BBD-F25FF43B01C8}"/>
              </a:ext>
            </a:extLst>
          </p:cNvPr>
          <p:cNvSpPr/>
          <p:nvPr/>
        </p:nvSpPr>
        <p:spPr>
          <a:xfrm flipH="1">
            <a:off x="2264882" y="3239875"/>
            <a:ext cx="2738143" cy="381259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Using POCD analysis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5ACCF6-D4C5-FFD2-3FC2-89E33AF27E69}"/>
              </a:ext>
            </a:extLst>
          </p:cNvPr>
          <p:cNvSpPr/>
          <p:nvPr/>
        </p:nvSpPr>
        <p:spPr>
          <a:xfrm>
            <a:off x="1364881" y="4545072"/>
            <a:ext cx="900002" cy="90000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507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DE87DB-A494-0ABF-3749-737407124FE8}"/>
              </a:ext>
            </a:extLst>
          </p:cNvPr>
          <p:cNvSpPr/>
          <p:nvPr/>
        </p:nvSpPr>
        <p:spPr>
          <a:xfrm>
            <a:off x="1364881" y="4339602"/>
            <a:ext cx="540001" cy="540000"/>
          </a:xfrm>
          <a:prstGeom prst="ellipse">
            <a:avLst/>
          </a:prstGeom>
          <a:solidFill>
            <a:schemeClr val="accent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r>
              <a:rPr lang="en-US" altLang="zh-CN" sz="1400" b="1" dirty="0">
                <a:solidFill>
                  <a:srgbClr val="FFFFFF"/>
                </a:solidFill>
              </a:rPr>
              <a:t>03</a:t>
            </a:r>
            <a:endParaRPr lang="zh-CN" altLang="en-US" sz="1400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A7C75-C048-01EE-7C2D-07FD26387FA7}"/>
              </a:ext>
            </a:extLst>
          </p:cNvPr>
          <p:cNvSpPr txBox="1"/>
          <p:nvPr/>
        </p:nvSpPr>
        <p:spPr>
          <a:xfrm>
            <a:off x="2264883" y="4243983"/>
            <a:ext cx="3126817" cy="494624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altLang="zh-CN" sz="2600" dirty="0">
                <a:solidFill>
                  <a:schemeClr val="tx1"/>
                </a:solidFill>
              </a:rPr>
              <a:t>Critical analysis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08B80F-B17C-D2EC-BD97-E694CBA400FC}"/>
              </a:ext>
            </a:extLst>
          </p:cNvPr>
          <p:cNvSpPr/>
          <p:nvPr/>
        </p:nvSpPr>
        <p:spPr>
          <a:xfrm flipH="1">
            <a:off x="2264882" y="4718867"/>
            <a:ext cx="2738143" cy="381259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qualitative &amp; quantitative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25F6A3-721B-DEBF-FA3F-26C2C053749F}"/>
              </a:ext>
            </a:extLst>
          </p:cNvPr>
          <p:cNvSpPr/>
          <p:nvPr/>
        </p:nvSpPr>
        <p:spPr>
          <a:xfrm>
            <a:off x="6522682" y="4672541"/>
            <a:ext cx="900002" cy="90000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507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116A67-1C5B-EE40-68DC-91B58AA45465}"/>
              </a:ext>
            </a:extLst>
          </p:cNvPr>
          <p:cNvSpPr/>
          <p:nvPr/>
        </p:nvSpPr>
        <p:spPr>
          <a:xfrm>
            <a:off x="6522682" y="4467071"/>
            <a:ext cx="540001" cy="540000"/>
          </a:xfrm>
          <a:prstGeom prst="ellipse">
            <a:avLst/>
          </a:prstGeom>
          <a:solidFill>
            <a:schemeClr val="accent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r>
              <a:rPr lang="en-US" altLang="zh-CN" sz="1400" b="1" dirty="0">
                <a:solidFill>
                  <a:srgbClr val="FFFFFF"/>
                </a:solidFill>
              </a:rPr>
              <a:t>04</a:t>
            </a:r>
            <a:endParaRPr lang="zh-CN" altLang="en-US" sz="1400" b="1" dirty="0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A396D2-FF4C-3C9E-F07D-A1EFE83E6128}"/>
              </a:ext>
            </a:extLst>
          </p:cNvPr>
          <p:cNvSpPr txBox="1"/>
          <p:nvPr/>
        </p:nvSpPr>
        <p:spPr>
          <a:xfrm>
            <a:off x="7422684" y="4371452"/>
            <a:ext cx="3126817" cy="494624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altLang="zh-CN" sz="2600" dirty="0">
                <a:solidFill>
                  <a:schemeClr val="tx1"/>
                </a:solidFill>
              </a:rPr>
              <a:t>Overall prospect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5819B3-26F3-0F2F-0761-12CA929F9DE1}"/>
              </a:ext>
            </a:extLst>
          </p:cNvPr>
          <p:cNvSpPr/>
          <p:nvPr/>
        </p:nvSpPr>
        <p:spPr>
          <a:xfrm flipH="1">
            <a:off x="7422683" y="4846336"/>
            <a:ext cx="2738143" cy="701347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From VC investors perspective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1147BF-50D1-923C-8698-E98A01230B3E}"/>
              </a:ext>
            </a:extLst>
          </p:cNvPr>
          <p:cNvSpPr/>
          <p:nvPr/>
        </p:nvSpPr>
        <p:spPr>
          <a:xfrm>
            <a:off x="6483939" y="3066080"/>
            <a:ext cx="900002" cy="900000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507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53F0B9-34BB-C91E-E5AA-8EC9AE013023}"/>
              </a:ext>
            </a:extLst>
          </p:cNvPr>
          <p:cNvSpPr/>
          <p:nvPr/>
        </p:nvSpPr>
        <p:spPr>
          <a:xfrm>
            <a:off x="6483939" y="2860610"/>
            <a:ext cx="540001" cy="54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r>
              <a:rPr lang="en-US" altLang="zh-CN" sz="1400" b="1" dirty="0">
                <a:solidFill>
                  <a:srgbClr val="FFFFFF"/>
                </a:solidFill>
              </a:rPr>
              <a:t>02</a:t>
            </a:r>
            <a:endParaRPr lang="zh-CN" alt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8E1EA-6040-041C-4931-3F8FBFE1A5C0}"/>
              </a:ext>
            </a:extLst>
          </p:cNvPr>
          <p:cNvSpPr txBox="1"/>
          <p:nvPr/>
        </p:nvSpPr>
        <p:spPr>
          <a:xfrm>
            <a:off x="7383941" y="2764991"/>
            <a:ext cx="4219056" cy="494624"/>
          </a:xfrm>
          <a:prstGeom prst="rect">
            <a:avLst/>
          </a:prstGeom>
          <a:noFill/>
        </p:spPr>
        <p:txBody>
          <a:bodyPr wrap="square" lIns="90000" tIns="46800" rIns="90000" bIns="46800" rtlCol="0" anchor="b" anchorCtr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altLang="zh-CN" sz="2600" dirty="0">
                <a:solidFill>
                  <a:schemeClr val="tx1"/>
                </a:solidFill>
              </a:rPr>
              <a:t>Quantitative evaluation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1588DD-FFE6-F783-5FBF-410D8CEFA548}"/>
              </a:ext>
            </a:extLst>
          </p:cNvPr>
          <p:cNvSpPr/>
          <p:nvPr/>
        </p:nvSpPr>
        <p:spPr>
          <a:xfrm flipH="1">
            <a:off x="7383940" y="3239875"/>
            <a:ext cx="2738143" cy="381259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t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/>
                </a:solidFill>
              </a:rPr>
              <a:t>stats &amp; comparison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29099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7816B9-4368-481C-AF7D-011CB1B5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8720"/>
            <a:ext cx="5182839" cy="840230"/>
          </a:xfrm>
        </p:spPr>
        <p:txBody>
          <a:bodyPr/>
          <a:lstStyle/>
          <a:p>
            <a:r>
              <a:rPr lang="en-US" altLang="zh-CN" sz="5400" dirty="0"/>
              <a:t>Part I </a:t>
            </a:r>
            <a:endParaRPr lang="zh-CN" alt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9E965-33B6-4BC1-B1B3-CD2DC6B7E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501" y="3248950"/>
            <a:ext cx="5182839" cy="1219886"/>
          </a:xfrm>
        </p:spPr>
        <p:txBody>
          <a:bodyPr/>
          <a:lstStyle/>
          <a:p>
            <a:pPr algn="l"/>
            <a:r>
              <a:rPr lang="en-US" altLang="zh-CN" sz="3200" b="1" dirty="0"/>
              <a:t>Qualitative evaluation(POCD)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51A1A-0AEE-2E45-D2B0-C1523C4CF315}"/>
              </a:ext>
            </a:extLst>
          </p:cNvPr>
          <p:cNvSpPr txBox="1"/>
          <p:nvPr/>
        </p:nvSpPr>
        <p:spPr>
          <a:xfrm>
            <a:off x="6096000" y="2839825"/>
            <a:ext cx="5184433" cy="1420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000" dirty="0"/>
              <a:t>People-Introduction of founders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000" dirty="0"/>
              <a:t>Opportunity-External factors(pros &amp; cons)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000" dirty="0"/>
              <a:t>Context-Internal factors(pros &amp; cons)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208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C66B-5C2E-9759-0685-E79B13E1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12744"/>
            <a:ext cx="10858500" cy="701731"/>
          </a:xfrm>
        </p:spPr>
        <p:txBody>
          <a:bodyPr/>
          <a:lstStyle/>
          <a:p>
            <a:r>
              <a:rPr lang="en-CN" sz="4400" dirty="0"/>
              <a:t>People </a:t>
            </a:r>
            <a:r>
              <a:rPr lang="en-CN" sz="3600" b="0" dirty="0"/>
              <a:t>- Introduction of the founders</a:t>
            </a:r>
            <a:endParaRPr lang="en-CN" sz="4400" b="0" dirty="0"/>
          </a:p>
        </p:txBody>
      </p:sp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D22CDD9-F4E4-1A42-2FE3-DD7E0F4ED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2" y="1936897"/>
            <a:ext cx="3352800" cy="1371600"/>
          </a:xfrm>
          <a:prstGeom prst="rect">
            <a:avLst/>
          </a:prstGeom>
        </p:spPr>
      </p:pic>
      <p:pic>
        <p:nvPicPr>
          <p:cNvPr id="16" name="Picture 15" descr="A person with a mustache&#10;&#10;Description automatically generated with medium confidence">
            <a:extLst>
              <a:ext uri="{FF2B5EF4-FFF2-40B4-BE49-F238E27FC236}">
                <a16:creationId xmlns:a16="http://schemas.microsoft.com/office/drawing/2014/main" id="{CC8043FB-226D-3D19-5821-0A57D2DD1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2" y="3730919"/>
            <a:ext cx="3352800" cy="1371600"/>
          </a:xfrm>
          <a:prstGeom prst="rect">
            <a:avLst/>
          </a:prstGeom>
        </p:spPr>
      </p:pic>
      <p:pic>
        <p:nvPicPr>
          <p:cNvPr id="18" name="Picture 1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CDCD3D9-C3E4-03FC-4233-3C3D969F77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936897"/>
            <a:ext cx="3352800" cy="1371600"/>
          </a:xfrm>
          <a:prstGeom prst="rect">
            <a:avLst/>
          </a:prstGeom>
        </p:spPr>
      </p:pic>
      <p:pic>
        <p:nvPicPr>
          <p:cNvPr id="20" name="Picture 1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802E6BA-E29F-9FF5-D6FB-B93024B3FA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730919"/>
            <a:ext cx="3352800" cy="1371600"/>
          </a:xfrm>
          <a:prstGeom prst="rect">
            <a:avLst/>
          </a:prstGeom>
        </p:spPr>
      </p:pic>
      <p:pic>
        <p:nvPicPr>
          <p:cNvPr id="22" name="Picture 21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8A99F577-A96A-CBE4-8E63-44B3F1C7F8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878" y="1936897"/>
            <a:ext cx="3352800" cy="1371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CFED09-8646-6A56-13AA-03B4F7D2492C}"/>
              </a:ext>
            </a:extLst>
          </p:cNvPr>
          <p:cNvSpPr txBox="1"/>
          <p:nvPr/>
        </p:nvSpPr>
        <p:spPr>
          <a:xfrm>
            <a:off x="666750" y="5319667"/>
            <a:ext cx="10852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concentrated team culture with consensus to create, innovate, and lead</a:t>
            </a:r>
            <a:endParaRPr lang="en-CN" sz="2800" b="1" dirty="0"/>
          </a:p>
        </p:txBody>
      </p:sp>
    </p:spTree>
    <p:extLst>
      <p:ext uri="{BB962C8B-B14F-4D97-AF65-F5344CB8AC3E}">
        <p14:creationId xmlns:p14="http://schemas.microsoft.com/office/powerpoint/2010/main" val="2406972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C66B-5C2E-9759-0685-E79B13E1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757345"/>
            <a:ext cx="10858500" cy="757130"/>
          </a:xfrm>
        </p:spPr>
        <p:txBody>
          <a:bodyPr/>
          <a:lstStyle/>
          <a:p>
            <a:r>
              <a:rPr lang="en-CN" sz="4800" dirty="0"/>
              <a:t>Opportunity(External factors)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3A72-DE3F-9F87-8A8D-C2682618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770917"/>
            <a:ext cx="10858500" cy="3709285"/>
          </a:xfrm>
        </p:spPr>
        <p:txBody>
          <a:bodyPr/>
          <a:lstStyle/>
          <a:p>
            <a:r>
              <a:rPr lang="en-CN" sz="2600" b="1" u="sng" dirty="0"/>
              <a:t>Pros</a:t>
            </a:r>
            <a:r>
              <a:rPr lang="en-CN" sz="2600" b="1" dirty="0"/>
              <a:t>: </a:t>
            </a:r>
            <a:r>
              <a:rPr lang="en-CN" sz="2600" dirty="0"/>
              <a:t>How does the NFT industry offers great opportunities for NFTz</a:t>
            </a:r>
            <a:br>
              <a:rPr lang="en-CN" sz="2400" dirty="0"/>
            </a:br>
            <a:r>
              <a:rPr lang="en-CN" sz="2200" dirty="0"/>
              <a:t>-Digital ownership &amp; scarcity offering of NFTs</a:t>
            </a:r>
            <a:br>
              <a:rPr lang="en-CN" sz="2200" dirty="0"/>
            </a:br>
            <a:r>
              <a:rPr lang="en-CN" sz="2200" dirty="0"/>
              <a:t>-Global market access</a:t>
            </a:r>
            <a:br>
              <a:rPr lang="en-CN" sz="2200" dirty="0"/>
            </a:br>
            <a:r>
              <a:rPr lang="en-CN" sz="2200" dirty="0"/>
              <a:t>-Diversification of assets</a:t>
            </a:r>
          </a:p>
          <a:p>
            <a:pPr>
              <a:spcBef>
                <a:spcPts val="2000"/>
              </a:spcBef>
            </a:pPr>
            <a:r>
              <a:rPr lang="en-US" sz="2600" b="1" u="sng" dirty="0"/>
              <a:t>Cons</a:t>
            </a:r>
            <a:r>
              <a:rPr lang="en-US" sz="2600" dirty="0"/>
              <a:t>: Concerns associated with the NFT industry</a:t>
            </a:r>
            <a:br>
              <a:rPr lang="en-US" sz="2400" dirty="0"/>
            </a:br>
            <a:r>
              <a:rPr lang="en-US" sz="2200" dirty="0"/>
              <a:t>-Fierce competition in the NFT market</a:t>
            </a:r>
            <a:br>
              <a:rPr lang="en-US" sz="2200" dirty="0"/>
            </a:br>
            <a:r>
              <a:rPr lang="en-US" sz="2200" dirty="0"/>
              <a:t>-Technological barriers</a:t>
            </a:r>
            <a:br>
              <a:rPr lang="en-CN" sz="2200" dirty="0"/>
            </a:br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87576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C66B-5C2E-9759-0685-E79B13E1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757345"/>
            <a:ext cx="10858500" cy="757130"/>
          </a:xfrm>
        </p:spPr>
        <p:txBody>
          <a:bodyPr/>
          <a:lstStyle/>
          <a:p>
            <a:r>
              <a:rPr lang="en-US" sz="4800" dirty="0"/>
              <a:t>Context(Internal factors)</a:t>
            </a:r>
            <a:endParaRPr lang="en-C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3A72-DE3F-9F87-8A8D-C2682618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770917"/>
            <a:ext cx="10858500" cy="3232552"/>
          </a:xfrm>
        </p:spPr>
        <p:txBody>
          <a:bodyPr/>
          <a:lstStyle/>
          <a:p>
            <a:r>
              <a:rPr lang="en-CN" sz="2600" b="1" u="sng" dirty="0"/>
              <a:t>Pros</a:t>
            </a:r>
            <a:r>
              <a:rPr lang="en-CN" sz="2600" b="1" dirty="0"/>
              <a:t>: </a:t>
            </a:r>
            <a:r>
              <a:rPr lang="en-US" sz="2600" dirty="0" err="1"/>
              <a:t>NFTz’s</a:t>
            </a:r>
            <a:r>
              <a:rPr lang="en-US" sz="2600" dirty="0"/>
              <a:t> main strength</a:t>
            </a:r>
            <a:br>
              <a:rPr lang="en-CN" sz="2400" dirty="0"/>
            </a:br>
            <a:r>
              <a:rPr lang="en-CN" sz="2200" dirty="0"/>
              <a:t>-</a:t>
            </a:r>
            <a:r>
              <a:rPr lang="en-US" sz="2200" b="1" dirty="0"/>
              <a:t>Creative 3D social function</a:t>
            </a:r>
            <a:r>
              <a:rPr lang="en-US" sz="2200" dirty="0"/>
              <a:t>: </a:t>
            </a:r>
            <a:r>
              <a:rPr lang="en-US" sz="2000" dirty="0"/>
              <a:t>3D galleries/3D NFTs/VR technology</a:t>
            </a:r>
          </a:p>
          <a:p>
            <a:pPr>
              <a:spcBef>
                <a:spcPts val="2000"/>
              </a:spcBef>
            </a:pPr>
            <a:r>
              <a:rPr lang="en-US" sz="2600" b="1" u="sng" dirty="0"/>
              <a:t>Cons</a:t>
            </a:r>
            <a:r>
              <a:rPr lang="en-US" sz="2600" dirty="0"/>
              <a:t>: </a:t>
            </a:r>
            <a:r>
              <a:rPr lang="en-US" sz="2600" dirty="0" err="1"/>
              <a:t>NFTz’s</a:t>
            </a:r>
            <a:r>
              <a:rPr lang="en-US" sz="2600" dirty="0"/>
              <a:t> main weaknesses</a:t>
            </a:r>
            <a:br>
              <a:rPr lang="en-US" sz="2400" dirty="0"/>
            </a:br>
            <a:r>
              <a:rPr lang="en-US" sz="2200" dirty="0"/>
              <a:t>-</a:t>
            </a:r>
            <a:r>
              <a:rPr lang="en-US" sz="2200" b="1" dirty="0"/>
              <a:t>High implementation cost</a:t>
            </a:r>
            <a:r>
              <a:rPr lang="en-US" sz="2200" dirty="0"/>
              <a:t>: </a:t>
            </a:r>
            <a:r>
              <a:rPr lang="en-US" sz="2000" dirty="0"/>
              <a:t>Company burden high cost for innovation, investors facing exposure for investment failure</a:t>
            </a:r>
            <a:br>
              <a:rPr lang="en-US" sz="2200" dirty="0"/>
            </a:br>
            <a:r>
              <a:rPr lang="en-US" sz="2200" dirty="0"/>
              <a:t>-</a:t>
            </a:r>
            <a:r>
              <a:rPr lang="en-US" sz="2200" b="1" dirty="0"/>
              <a:t>Limited user base for advanced features</a:t>
            </a:r>
            <a:r>
              <a:rPr lang="en-US" sz="2200" dirty="0"/>
              <a:t>: </a:t>
            </a:r>
            <a:r>
              <a:rPr lang="en-US" sz="2000" dirty="0"/>
              <a:t>NFTs and its associated technologies are not main stream.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365235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7816B9-4368-481C-AF7D-011CB1B5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29587"/>
            <a:ext cx="5182839" cy="840230"/>
          </a:xfrm>
        </p:spPr>
        <p:txBody>
          <a:bodyPr/>
          <a:lstStyle/>
          <a:p>
            <a:r>
              <a:rPr lang="en-US" altLang="zh-CN" sz="5400" dirty="0"/>
              <a:t>Part II</a:t>
            </a:r>
            <a:endParaRPr lang="zh-CN" alt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9E965-33B6-4BC1-B1B3-CD2DC6B7E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129" y="3369817"/>
            <a:ext cx="4491742" cy="1219886"/>
          </a:xfrm>
        </p:spPr>
        <p:txBody>
          <a:bodyPr/>
          <a:lstStyle/>
          <a:p>
            <a:pPr algn="l"/>
            <a:r>
              <a:rPr lang="en-US" altLang="zh-CN" sz="3200" b="1" dirty="0"/>
              <a:t>Quantitative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51A1A-0AEE-2E45-D2B0-C1523C4CF315}"/>
              </a:ext>
            </a:extLst>
          </p:cNvPr>
          <p:cNvSpPr txBox="1"/>
          <p:nvPr/>
        </p:nvSpPr>
        <p:spPr>
          <a:xfrm>
            <a:off x="6096000" y="2949702"/>
            <a:ext cx="4974972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Website Traffic &amp; Engagement Analysis</a:t>
            </a:r>
            <a:endParaRPr lang="en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000" dirty="0"/>
              <a:t>Market stats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632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3A72-DE3F-9F87-8A8D-C2682618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23" y="688566"/>
            <a:ext cx="10858500" cy="1724255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 err="1"/>
              <a:t>NFTz’s</a:t>
            </a:r>
            <a:r>
              <a:rPr lang="en-US" sz="2800" b="1" u="sng" dirty="0"/>
              <a:t> platform data </a:t>
            </a:r>
            <a:r>
              <a:rPr lang="en-US" sz="2800" b="1" u="sng" dirty="0" err="1"/>
              <a:t>v.s</a:t>
            </a:r>
            <a:r>
              <a:rPr lang="en-US" sz="2800" b="1" u="sng" dirty="0"/>
              <a:t>. its peer competitor &amp; leading player in NFT industry</a:t>
            </a:r>
          </a:p>
          <a:p>
            <a:pPr marL="0" indent="0">
              <a:buNone/>
            </a:pPr>
            <a:endParaRPr lang="en-US" sz="2800" b="1" u="sng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BB9F30E-CFEC-8398-4AAD-0D6552790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966905"/>
              </p:ext>
            </p:extLst>
          </p:nvPr>
        </p:nvGraphicFramePr>
        <p:xfrm>
          <a:off x="1654247" y="1978091"/>
          <a:ext cx="8883505" cy="3993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52900" imgH="1866900" progId="Excel.Sheet.12">
                  <p:embed/>
                </p:oleObj>
              </mc:Choice>
              <mc:Fallback>
                <p:oleObj name="Worksheet" r:id="rId2" imgW="4152900" imgH="1866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4247" y="1978091"/>
                        <a:ext cx="8883505" cy="3993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995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3A72-DE3F-9F87-8A8D-C2682618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958" y="781871"/>
            <a:ext cx="10858500" cy="2369559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 err="1"/>
              <a:t>NFTz’s</a:t>
            </a:r>
            <a:r>
              <a:rPr lang="en-US" sz="2800" b="1" u="sng" dirty="0"/>
              <a:t> crypto and blockchain technology (</a:t>
            </a:r>
            <a:r>
              <a:rPr lang="en-US" sz="2800" b="1" u="sng" dirty="0" err="1"/>
              <a:t>DeSo</a:t>
            </a:r>
            <a:r>
              <a:rPr lang="en-US" sz="2800" b="1" u="sng" dirty="0"/>
              <a:t>) </a:t>
            </a:r>
            <a:r>
              <a:rPr lang="en-US" sz="2800" b="1" u="sng" dirty="0" err="1"/>
              <a:t>v.s</a:t>
            </a:r>
            <a:r>
              <a:rPr lang="en-US" sz="2800" b="1" u="sng" dirty="0"/>
              <a:t>. </a:t>
            </a:r>
            <a:r>
              <a:rPr lang="en-US" sz="2800" b="1" u="sng" dirty="0" err="1"/>
              <a:t>Opensea’s</a:t>
            </a:r>
            <a:r>
              <a:rPr lang="en-US" sz="2800" b="1" u="sng" dirty="0"/>
              <a:t> (ETH)</a:t>
            </a:r>
          </a:p>
          <a:p>
            <a:endParaRPr lang="en-US" sz="2800" b="1" u="sng" dirty="0"/>
          </a:p>
          <a:p>
            <a:endParaRPr lang="en-US" sz="2800" b="1" u="sng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787BEFA-694D-B9FD-8B5F-257C44396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878170"/>
              </p:ext>
            </p:extLst>
          </p:nvPr>
        </p:nvGraphicFramePr>
        <p:xfrm>
          <a:off x="2591005" y="2191614"/>
          <a:ext cx="7009990" cy="361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75000" imgH="1638300" progId="Excel.Sheet.12">
                  <p:embed/>
                </p:oleObj>
              </mc:Choice>
              <mc:Fallback>
                <p:oleObj name="Worksheet" r:id="rId2" imgW="3175000" imgH="1638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91005" y="2191614"/>
                        <a:ext cx="7009990" cy="3617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2063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7816B9-4368-481C-AF7D-011CB1B5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8101" y="2408720"/>
            <a:ext cx="5182839" cy="840230"/>
          </a:xfrm>
        </p:spPr>
        <p:txBody>
          <a:bodyPr/>
          <a:lstStyle/>
          <a:p>
            <a:r>
              <a:rPr lang="en-US" altLang="zh-CN" sz="5400" dirty="0"/>
              <a:t>Part III</a:t>
            </a:r>
            <a:endParaRPr lang="zh-CN" alt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9E965-33B6-4BC1-B1B3-CD2DC6B7E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90" y="3269508"/>
            <a:ext cx="5182839" cy="628955"/>
          </a:xfrm>
        </p:spPr>
        <p:txBody>
          <a:bodyPr/>
          <a:lstStyle/>
          <a:p>
            <a:r>
              <a:rPr lang="en-US" altLang="zh-CN" sz="3200" b="1" dirty="0"/>
              <a:t>Critical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51A1A-0AEE-2E45-D2B0-C1523C4CF315}"/>
              </a:ext>
            </a:extLst>
          </p:cNvPr>
          <p:cNvSpPr txBox="1"/>
          <p:nvPr/>
        </p:nvSpPr>
        <p:spPr>
          <a:xfrm>
            <a:off x="6400802" y="2828835"/>
            <a:ext cx="4672012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makes </a:t>
            </a:r>
            <a:r>
              <a:rPr lang="en-US" sz="2000" dirty="0" err="1"/>
              <a:t>NFTz</a:t>
            </a:r>
            <a:r>
              <a:rPr lang="en-US" sz="2000" dirty="0"/>
              <a:t> stand out in both qualitative and quantitative matters</a:t>
            </a:r>
            <a:endParaRPr lang="en-CN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215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5019-6CB0-8A5E-BFED-92C65249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858500" cy="1849794"/>
          </a:xfrm>
        </p:spPr>
        <p:txBody>
          <a:bodyPr>
            <a:normAutofit/>
          </a:bodyPr>
          <a:lstStyle/>
          <a:p>
            <a:r>
              <a:rPr lang="en-CN" sz="5400" dirty="0"/>
              <a:t>Critical analysis</a:t>
            </a:r>
            <a:br>
              <a:rPr lang="en-CN" dirty="0"/>
            </a:br>
            <a:r>
              <a:rPr lang="en-CN" sz="2600" b="0" dirty="0"/>
              <a:t>-What makes NFTz stand out in both qualitative and quantitative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4CA5-F8F7-C8E5-4B61-3CDC540B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3027985"/>
            <a:ext cx="10858500" cy="2383217"/>
          </a:xfrm>
        </p:spPr>
        <p:txBody>
          <a:bodyPr/>
          <a:lstStyle/>
          <a:p>
            <a:r>
              <a:rPr lang="en-CN" sz="2400" b="1" dirty="0"/>
              <a:t>NFTz has winning potential as it solves real-world problems</a:t>
            </a:r>
          </a:p>
          <a:p>
            <a:r>
              <a:rPr lang="en-CN" sz="2400" b="1" dirty="0"/>
              <a:t>People facing problems</a:t>
            </a:r>
            <a:br>
              <a:rPr lang="en-CN" sz="2200" b="1" dirty="0"/>
            </a:br>
            <a:r>
              <a:rPr lang="en-CN" sz="2000" dirty="0"/>
              <a:t>H</a:t>
            </a:r>
            <a:r>
              <a:rPr lang="en-US" sz="2000" dirty="0" err="1"/>
              <a:t>i</a:t>
            </a:r>
            <a:r>
              <a:rPr lang="en-CN" sz="2000" dirty="0"/>
              <a:t>gh cost of offline entertainment</a:t>
            </a:r>
            <a:r>
              <a:rPr lang="en-CN" sz="2000" dirty="0">
                <a:sym typeface="Wingdings" pitchFamily="2" charset="2"/>
              </a:rPr>
              <a:t>More people switch to online entertainment(less costly)</a:t>
            </a:r>
          </a:p>
          <a:p>
            <a:r>
              <a:rPr lang="en-CN" sz="2400" b="1" dirty="0">
                <a:sym typeface="Wingdings" pitchFamily="2" charset="2"/>
              </a:rPr>
              <a:t>NFTz’s 3D social</a:t>
            </a:r>
            <a:br>
              <a:rPr lang="en-CN" sz="2200" b="1" dirty="0">
                <a:sym typeface="Wingdings" pitchFamily="2" charset="2"/>
              </a:rPr>
            </a:br>
            <a:r>
              <a:rPr lang="en-CN" sz="2000" b="1" dirty="0">
                <a:sym typeface="Wingdings" pitchFamily="2" charset="2"/>
              </a:rPr>
              <a:t>S</a:t>
            </a:r>
            <a:r>
              <a:rPr lang="en-CN" sz="2000" dirty="0">
                <a:sym typeface="Wingdings" pitchFamily="2" charset="2"/>
              </a:rPr>
              <a:t>erves both online entertaining and profit-making purposesBusiness customers win-win</a:t>
            </a:r>
            <a:endParaRPr lang="en-C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C953-9B6A-F814-857F-BC20E3F7E7E3}"/>
              </a:ext>
            </a:extLst>
          </p:cNvPr>
          <p:cNvSpPr txBox="1"/>
          <p:nvPr/>
        </p:nvSpPr>
        <p:spPr>
          <a:xfrm>
            <a:off x="666750" y="2356702"/>
            <a:ext cx="3942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b="1" u="sng" dirty="0"/>
              <a:t>1. Qualitative analysis</a:t>
            </a:r>
          </a:p>
        </p:txBody>
      </p:sp>
    </p:spTree>
    <p:extLst>
      <p:ext uri="{BB962C8B-B14F-4D97-AF65-F5344CB8AC3E}">
        <p14:creationId xmlns:p14="http://schemas.microsoft.com/office/powerpoint/2010/main" val="503838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5019-6CB0-8A5E-BFED-92C65249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858500" cy="1849794"/>
          </a:xfrm>
        </p:spPr>
        <p:txBody>
          <a:bodyPr>
            <a:normAutofit/>
          </a:bodyPr>
          <a:lstStyle/>
          <a:p>
            <a:r>
              <a:rPr lang="en-CN" sz="5400" dirty="0"/>
              <a:t>Critical analysis</a:t>
            </a:r>
            <a:br>
              <a:rPr lang="en-CN" dirty="0"/>
            </a:br>
            <a:r>
              <a:rPr lang="en-CN" sz="2600" b="0" dirty="0"/>
              <a:t>-What makes NFTz stand out in both qualitative and quantitative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4CA5-F8F7-C8E5-4B61-3CDC540B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2729405"/>
            <a:ext cx="10858500" cy="3686394"/>
          </a:xfrm>
        </p:spPr>
        <p:txBody>
          <a:bodyPr/>
          <a:lstStyle/>
          <a:p>
            <a:r>
              <a:rPr lang="en-US" sz="2400" b="1" dirty="0" err="1"/>
              <a:t>NFTz</a:t>
            </a:r>
            <a:r>
              <a:rPr lang="en-US" sz="2400" b="1" dirty="0"/>
              <a:t> utilizes </a:t>
            </a:r>
            <a:r>
              <a:rPr lang="en-US" sz="2400" b="1" dirty="0" err="1"/>
              <a:t>DeSo</a:t>
            </a:r>
            <a:r>
              <a:rPr lang="en-US" sz="2200" dirty="0"/>
              <a:t>:</a:t>
            </a:r>
            <a:br>
              <a:rPr lang="en-US" sz="2200" dirty="0"/>
            </a:br>
            <a:r>
              <a:rPr lang="en-US" sz="2000" dirty="0"/>
              <a:t>Blockchain technology &amp; Cryptocurrency</a:t>
            </a:r>
            <a:endParaRPr lang="en-US" sz="2200" dirty="0"/>
          </a:p>
          <a:p>
            <a:r>
              <a:rPr lang="en-US" sz="2400" b="1" dirty="0"/>
              <a:t>The value of cryptocurrency is up to people’s consensus</a:t>
            </a:r>
            <a:br>
              <a:rPr lang="en-US" sz="2000" b="1" dirty="0"/>
            </a:br>
            <a:r>
              <a:rPr lang="en-US" sz="2000" dirty="0"/>
              <a:t> transaction frequency &amp; volume</a:t>
            </a:r>
            <a:endParaRPr lang="en-US" sz="2200" dirty="0"/>
          </a:p>
          <a:p>
            <a:r>
              <a:rPr lang="en-US" sz="2400" b="1" dirty="0"/>
              <a:t>Combine with qualitative features</a:t>
            </a:r>
            <a:br>
              <a:rPr lang="en-US" sz="2200" b="1" dirty="0"/>
            </a:br>
            <a:r>
              <a:rPr lang="en-US" sz="2000" dirty="0"/>
              <a:t>More and more people use 3D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 err="1"/>
              <a:t>DeSo’s</a:t>
            </a:r>
            <a:r>
              <a:rPr lang="en-US" sz="2000" dirty="0"/>
              <a:t> transaction frequency </a:t>
            </a:r>
            <a:r>
              <a:rPr lang="en-US" sz="2000" dirty="0" err="1"/>
              <a:t>increasesHigher</a:t>
            </a:r>
            <a:r>
              <a:rPr lang="en-US" sz="2000" dirty="0"/>
              <a:t> value of </a:t>
            </a:r>
            <a:r>
              <a:rPr lang="en-US" sz="2000" dirty="0" err="1"/>
              <a:t>DeSo</a:t>
            </a:r>
            <a:endParaRPr lang="en-US" sz="2200" dirty="0"/>
          </a:p>
          <a:p>
            <a:r>
              <a:rPr lang="en-US" sz="2400" b="1" dirty="0"/>
              <a:t>Qualitative &amp; quantitative features closely tie to each other</a:t>
            </a:r>
            <a:endParaRPr lang="en-C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C953-9B6A-F814-857F-BC20E3F7E7E3}"/>
              </a:ext>
            </a:extLst>
          </p:cNvPr>
          <p:cNvSpPr txBox="1"/>
          <p:nvPr/>
        </p:nvSpPr>
        <p:spPr>
          <a:xfrm>
            <a:off x="666750" y="2058122"/>
            <a:ext cx="4182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2. Quantitative analysis</a:t>
            </a:r>
            <a:endParaRPr lang="en-CN" sz="2800" b="1" u="sng" dirty="0"/>
          </a:p>
        </p:txBody>
      </p:sp>
    </p:spTree>
    <p:extLst>
      <p:ext uri="{BB962C8B-B14F-4D97-AF65-F5344CB8AC3E}">
        <p14:creationId xmlns:p14="http://schemas.microsoft.com/office/powerpoint/2010/main" val="1264299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7816B9-4368-481C-AF7D-011CB1B5D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8101" y="2408720"/>
            <a:ext cx="5182839" cy="840230"/>
          </a:xfrm>
        </p:spPr>
        <p:txBody>
          <a:bodyPr/>
          <a:lstStyle/>
          <a:p>
            <a:r>
              <a:rPr lang="en-US" altLang="zh-CN" sz="5400" dirty="0"/>
              <a:t>Part IV. </a:t>
            </a:r>
            <a:endParaRPr lang="zh-CN" altLang="en-US" sz="5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9E965-33B6-4BC1-B1B3-CD2DC6B7E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248950"/>
            <a:ext cx="5182839" cy="628955"/>
          </a:xfrm>
        </p:spPr>
        <p:txBody>
          <a:bodyPr/>
          <a:lstStyle/>
          <a:p>
            <a:r>
              <a:rPr lang="en-US" altLang="zh-CN" sz="3200" b="1" dirty="0"/>
              <a:t>Overall prospect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51A1A-0AEE-2E45-D2B0-C1523C4CF315}"/>
              </a:ext>
            </a:extLst>
          </p:cNvPr>
          <p:cNvSpPr txBox="1"/>
          <p:nvPr/>
        </p:nvSpPr>
        <p:spPr>
          <a:xfrm>
            <a:off x="5540940" y="2949702"/>
            <a:ext cx="6231258" cy="958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2000" dirty="0"/>
              <a:t>Overall prospect from a VC investor’s perspectives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Conclusion</a:t>
            </a:r>
            <a:endParaRPr lang="en-CN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845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5019-6CB0-8A5E-BFED-92C65249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858500" cy="1849794"/>
          </a:xfrm>
        </p:spPr>
        <p:txBody>
          <a:bodyPr>
            <a:normAutofit/>
          </a:bodyPr>
          <a:lstStyle/>
          <a:p>
            <a:r>
              <a:rPr lang="en-US" sz="5400" dirty="0"/>
              <a:t>Overall prospect</a:t>
            </a:r>
            <a:br>
              <a:rPr lang="en-CN" dirty="0"/>
            </a:br>
            <a:r>
              <a:rPr lang="en-US" sz="2600" b="0" dirty="0"/>
              <a:t>-From VC investors perspectives</a:t>
            </a:r>
            <a:endParaRPr lang="en-CN" sz="26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4CA5-F8F7-C8E5-4B61-3CDC540B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2337520"/>
            <a:ext cx="10858500" cy="138114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After analyzing </a:t>
            </a:r>
            <a:r>
              <a:rPr lang="en-US" sz="2400" dirty="0" err="1"/>
              <a:t>NFTz’s</a:t>
            </a:r>
            <a:r>
              <a:rPr lang="en-US" sz="2400" dirty="0"/>
              <a:t> qualitative and quantitative functions, we stand in a VC investor’s perspective to see whether this company is worth investing in for its seed-funding stage</a:t>
            </a:r>
            <a:endParaRPr lang="en-C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6EF8B-FAFE-66AA-D55C-E26BAFE99EA3}"/>
              </a:ext>
            </a:extLst>
          </p:cNvPr>
          <p:cNvSpPr txBox="1"/>
          <p:nvPr/>
        </p:nvSpPr>
        <p:spPr>
          <a:xfrm>
            <a:off x="666750" y="4516016"/>
            <a:ext cx="5819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b="1" dirty="0"/>
              <a:t>Optimists &gt; Pessimists</a:t>
            </a:r>
          </a:p>
        </p:txBody>
      </p:sp>
    </p:spTree>
    <p:extLst>
      <p:ext uri="{BB962C8B-B14F-4D97-AF65-F5344CB8AC3E}">
        <p14:creationId xmlns:p14="http://schemas.microsoft.com/office/powerpoint/2010/main" val="174883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4CA5-F8F7-C8E5-4B61-3CDC540B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3027985"/>
            <a:ext cx="10858500" cy="2524024"/>
          </a:xfrm>
        </p:spPr>
        <p:txBody>
          <a:bodyPr/>
          <a:lstStyle/>
          <a:p>
            <a:r>
              <a:rPr lang="en-US" sz="2400" dirty="0" err="1"/>
              <a:t>NFTz’s</a:t>
            </a:r>
            <a:r>
              <a:rPr lang="en-US" sz="2400" dirty="0"/>
              <a:t> 3D metaverse </a:t>
            </a:r>
            <a:r>
              <a:rPr lang="en-US" sz="2400" dirty="0" err="1"/>
              <a:t>platform</a:t>
            </a:r>
            <a:r>
              <a:rPr lang="en-US" sz="2400" dirty="0" err="1">
                <a:sym typeface="Wingdings" pitchFamily="2" charset="2"/>
              </a:rPr>
              <a:t></a:t>
            </a:r>
            <a:r>
              <a:rPr lang="en-US" sz="2400" dirty="0" err="1"/>
              <a:t>entertaining</a:t>
            </a:r>
            <a:r>
              <a:rPr lang="en-US" sz="2400" dirty="0"/>
              <a:t> &amp; profit generating for </a:t>
            </a:r>
            <a:r>
              <a:rPr lang="en-US" sz="2400" dirty="0" err="1"/>
              <a:t>customers</a:t>
            </a:r>
            <a:r>
              <a:rPr lang="en-US" sz="2400" dirty="0" err="1">
                <a:sym typeface="Wingdings" pitchFamily="2" charset="2"/>
              </a:rPr>
              <a:t></a:t>
            </a:r>
            <a:r>
              <a:rPr lang="en-US" sz="2400" dirty="0" err="1"/>
              <a:t>achieve</a:t>
            </a:r>
            <a:r>
              <a:rPr lang="en-US" sz="2400" dirty="0"/>
              <a:t> business customers win-win purpose</a:t>
            </a:r>
          </a:p>
          <a:p>
            <a:r>
              <a:rPr lang="en-US" sz="2400" dirty="0" err="1"/>
              <a:t>NFTz</a:t>
            </a:r>
            <a:r>
              <a:rPr lang="en-US" sz="2400" dirty="0"/>
              <a:t> uses </a:t>
            </a:r>
            <a:r>
              <a:rPr lang="en-US" sz="2400" dirty="0" err="1"/>
              <a:t>DeSo</a:t>
            </a:r>
            <a:r>
              <a:rPr lang="en-US" sz="2400" dirty="0" err="1">
                <a:sym typeface="Wingdings" pitchFamily="2" charset="2"/>
              </a:rPr>
              <a:t></a:t>
            </a:r>
            <a:r>
              <a:rPr lang="en-US" sz="2400" dirty="0" err="1"/>
              <a:t>differentiate</a:t>
            </a:r>
            <a:r>
              <a:rPr lang="en-US" sz="2400" dirty="0"/>
              <a:t> from traditional crypto utilization(i.e. ETH, BTC,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C953-9B6A-F814-857F-BC20E3F7E7E3}"/>
              </a:ext>
            </a:extLst>
          </p:cNvPr>
          <p:cNvSpPr txBox="1"/>
          <p:nvPr/>
        </p:nvSpPr>
        <p:spPr>
          <a:xfrm>
            <a:off x="666750" y="2356702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b="1" u="sng" dirty="0"/>
              <a:t>1. </a:t>
            </a:r>
            <a:r>
              <a:rPr lang="en-US" sz="2800" b="1" u="sng" dirty="0"/>
              <a:t>Optimists</a:t>
            </a:r>
            <a:endParaRPr lang="en-CN" sz="2800" b="1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F2A4FF-F306-BBAD-1A67-E86BD9AE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858500" cy="1849438"/>
          </a:xfrm>
        </p:spPr>
        <p:txBody>
          <a:bodyPr>
            <a:normAutofit/>
          </a:bodyPr>
          <a:lstStyle/>
          <a:p>
            <a:r>
              <a:rPr lang="en-US" sz="5400" dirty="0"/>
              <a:t>Overall prospect</a:t>
            </a:r>
            <a:br>
              <a:rPr lang="en-CN" dirty="0"/>
            </a:br>
            <a:r>
              <a:rPr lang="en-US" sz="2600" b="0" dirty="0"/>
              <a:t>-From VC investors perspectives</a:t>
            </a:r>
            <a:endParaRPr lang="en-CN" sz="2600" b="0" dirty="0"/>
          </a:p>
        </p:txBody>
      </p:sp>
    </p:spTree>
    <p:extLst>
      <p:ext uri="{BB962C8B-B14F-4D97-AF65-F5344CB8AC3E}">
        <p14:creationId xmlns:p14="http://schemas.microsoft.com/office/powerpoint/2010/main" val="128186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4CA5-F8F7-C8E5-4B61-3CDC540B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3027985"/>
            <a:ext cx="10858500" cy="1516313"/>
          </a:xfrm>
        </p:spPr>
        <p:txBody>
          <a:bodyPr/>
          <a:lstStyle/>
          <a:p>
            <a:r>
              <a:rPr lang="en-US" sz="2600" b="1" dirty="0"/>
              <a:t>Fierce competition in the NFT industry</a:t>
            </a:r>
          </a:p>
          <a:p>
            <a:r>
              <a:rPr lang="en-US" sz="2600" b="1" dirty="0"/>
              <a:t>However, everything has two sides:</a:t>
            </a:r>
            <a:br>
              <a:rPr lang="en-US" sz="2400" dirty="0"/>
            </a:br>
            <a:r>
              <a:rPr lang="en-US" sz="2000" dirty="0"/>
              <a:t>Healthy </a:t>
            </a:r>
            <a:r>
              <a:rPr lang="en-US" sz="2000" dirty="0" err="1"/>
              <a:t>competition</a:t>
            </a:r>
            <a:r>
              <a:rPr lang="en-US" sz="2000" dirty="0" err="1">
                <a:sym typeface="Wingdings" pitchFamily="2" charset="2"/>
              </a:rPr>
              <a:t></a:t>
            </a:r>
            <a:r>
              <a:rPr lang="en-US" sz="2000" dirty="0" err="1"/>
              <a:t>Motivate</a:t>
            </a:r>
            <a:r>
              <a:rPr lang="en-US" sz="2000" dirty="0"/>
              <a:t> </a:t>
            </a:r>
            <a:r>
              <a:rPr lang="en-US" sz="2000" dirty="0" err="1"/>
              <a:t>NFTz</a:t>
            </a:r>
            <a:r>
              <a:rPr lang="en-US" sz="2000" dirty="0"/>
              <a:t> 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75C953-9B6A-F814-857F-BC20E3F7E7E3}"/>
              </a:ext>
            </a:extLst>
          </p:cNvPr>
          <p:cNvSpPr txBox="1"/>
          <p:nvPr/>
        </p:nvSpPr>
        <p:spPr>
          <a:xfrm>
            <a:off x="666750" y="2356702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/>
              <a:t>2. Pessimists</a:t>
            </a:r>
            <a:endParaRPr lang="en-CN" sz="2800" b="1" u="sng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EF2A4FF-F306-BBAD-1A67-E86BD9AE3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858500" cy="1849438"/>
          </a:xfrm>
        </p:spPr>
        <p:txBody>
          <a:bodyPr>
            <a:normAutofit/>
          </a:bodyPr>
          <a:lstStyle/>
          <a:p>
            <a:r>
              <a:rPr lang="en-US" sz="5400" dirty="0"/>
              <a:t>Overall prospect</a:t>
            </a:r>
            <a:br>
              <a:rPr lang="en-CN" dirty="0"/>
            </a:br>
            <a:r>
              <a:rPr lang="en-US" sz="2600" b="0" dirty="0"/>
              <a:t>-From VC investors perspectives</a:t>
            </a:r>
            <a:endParaRPr lang="en-CN" sz="2600" b="0" dirty="0"/>
          </a:p>
        </p:txBody>
      </p:sp>
    </p:spTree>
    <p:extLst>
      <p:ext uri="{BB962C8B-B14F-4D97-AF65-F5344CB8AC3E}">
        <p14:creationId xmlns:p14="http://schemas.microsoft.com/office/powerpoint/2010/main" val="3728554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C66B-5C2E-9759-0685-E79B13E1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757345"/>
            <a:ext cx="10858500" cy="757130"/>
          </a:xfrm>
        </p:spPr>
        <p:txBody>
          <a:bodyPr/>
          <a:lstStyle/>
          <a:p>
            <a:r>
              <a:rPr lang="en-CN" sz="4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3A72-DE3F-9F87-8A8D-C26826188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770917"/>
            <a:ext cx="10858500" cy="4234942"/>
          </a:xfrm>
        </p:spPr>
        <p:txBody>
          <a:bodyPr/>
          <a:lstStyle/>
          <a:p>
            <a:r>
              <a:rPr lang="en-US" sz="2600" dirty="0"/>
              <a:t>Overall, based on all the critical evaluation and analysis to </a:t>
            </a:r>
            <a:r>
              <a:rPr lang="en-US" sz="2600" dirty="0" err="1"/>
              <a:t>NFTz</a:t>
            </a:r>
            <a:r>
              <a:rPr lang="en-US" sz="2600" dirty="0"/>
              <a:t>, we’re </a:t>
            </a:r>
            <a:r>
              <a:rPr lang="en-US" sz="2800" b="1" u="sng" dirty="0"/>
              <a:t>optimistic</a:t>
            </a:r>
            <a:r>
              <a:rPr lang="en-US" sz="2600" dirty="0"/>
              <a:t> about the firm.</a:t>
            </a:r>
          </a:p>
          <a:p>
            <a:pPr>
              <a:spcBef>
                <a:spcPts val="2000"/>
              </a:spcBef>
            </a:pPr>
            <a:r>
              <a:rPr lang="en-US" sz="2600" b="1" dirty="0" err="1"/>
              <a:t>NFTz’s</a:t>
            </a:r>
            <a:r>
              <a:rPr lang="en-US" sz="2600" b="1" dirty="0"/>
              <a:t> original intention</a:t>
            </a:r>
            <a:br>
              <a:rPr lang="en-US" sz="2600" dirty="0"/>
            </a:br>
            <a:r>
              <a:rPr lang="en-US" sz="2000" dirty="0"/>
              <a:t>1. Solving real problems and achieving “business customer win-win” </a:t>
            </a:r>
            <a:br>
              <a:rPr lang="en-US" sz="2000" dirty="0"/>
            </a:br>
            <a:r>
              <a:rPr lang="en-US" sz="2000" dirty="0"/>
              <a:t>2. </a:t>
            </a:r>
            <a:r>
              <a:rPr lang="en-US" sz="2000" dirty="0" err="1"/>
              <a:t>NFTz’s</a:t>
            </a:r>
            <a:r>
              <a:rPr lang="en-US" sz="2000" dirty="0"/>
              <a:t> socialization function of </a:t>
            </a:r>
            <a:r>
              <a:rPr lang="en-US" sz="2000" dirty="0" err="1"/>
              <a:t>DeSo</a:t>
            </a:r>
            <a:r>
              <a:rPr lang="en-US" sz="2000" dirty="0"/>
              <a:t> utilization</a:t>
            </a:r>
            <a:br>
              <a:rPr lang="en-US" sz="2000" dirty="0"/>
            </a:br>
            <a:r>
              <a:rPr lang="en-US" sz="2000" dirty="0"/>
              <a:t>3. </a:t>
            </a:r>
            <a:r>
              <a:rPr lang="en-US" sz="2000" dirty="0" err="1"/>
              <a:t>NFTz’s</a:t>
            </a:r>
            <a:r>
              <a:rPr lang="en-US" sz="2000" dirty="0"/>
              <a:t> promising founder team.</a:t>
            </a:r>
          </a:p>
          <a:p>
            <a:pPr>
              <a:spcBef>
                <a:spcPts val="2000"/>
              </a:spcBef>
            </a:pPr>
            <a:r>
              <a:rPr lang="en-US" sz="2600" b="1" dirty="0"/>
              <a:t>We’d  like to invest in </a:t>
            </a:r>
            <a:r>
              <a:rPr lang="en-US" sz="2600" b="1" dirty="0" err="1"/>
              <a:t>NFTz</a:t>
            </a:r>
            <a:r>
              <a:rPr lang="en-US" sz="2600" b="1" dirty="0"/>
              <a:t> in its Seed Funding Stage.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74522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52094-98C0-4141-A04B-98B9DF4DF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28" y="2523089"/>
            <a:ext cx="6223000" cy="1104918"/>
          </a:xfrm>
        </p:spPr>
        <p:txBody>
          <a:bodyPr/>
          <a:lstStyle/>
          <a:p>
            <a:r>
              <a:rPr lang="en-US" altLang="zh-CN" sz="6000" dirty="0"/>
              <a:t>Thanks</a:t>
            </a:r>
            <a:endParaRPr lang="en-GB" altLang="zh-CN" sz="6000" dirty="0"/>
          </a:p>
        </p:txBody>
      </p:sp>
      <p:sp>
        <p:nvSpPr>
          <p:cNvPr id="11" name="Subtitle 9">
            <a:extLst>
              <a:ext uri="{FF2B5EF4-FFF2-40B4-BE49-F238E27FC236}">
                <a16:creationId xmlns:a16="http://schemas.microsoft.com/office/drawing/2014/main" id="{1CC1A8FE-4822-3731-C901-CE2D687953F1}"/>
              </a:ext>
            </a:extLst>
          </p:cNvPr>
          <p:cNvSpPr txBox="1">
            <a:spLocks/>
          </p:cNvSpPr>
          <p:nvPr/>
        </p:nvSpPr>
        <p:spPr>
          <a:xfrm>
            <a:off x="772366" y="4227119"/>
            <a:ext cx="1822324" cy="50708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/>
              <a:t>Group 3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27C78EF-6E79-4669-7C89-86743609EAE4}"/>
              </a:ext>
            </a:extLst>
          </p:cNvPr>
          <p:cNvSpPr txBox="1">
            <a:spLocks/>
          </p:cNvSpPr>
          <p:nvPr/>
        </p:nvSpPr>
        <p:spPr>
          <a:xfrm>
            <a:off x="772366" y="5264835"/>
            <a:ext cx="5568950" cy="1102674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3200" b="1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altLang="zh-CN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Vivian - </a:t>
            </a:r>
            <a:r>
              <a:rPr lang="en-US" altLang="zh-CN" sz="1400" dirty="0" err="1"/>
              <a:t>Hanzhi</a:t>
            </a:r>
            <a:r>
              <a:rPr lang="en-US" altLang="zh-CN" sz="1400" dirty="0"/>
              <a:t> Wang</a:t>
            </a:r>
            <a:br>
              <a:rPr lang="en-US" altLang="zh-CN" sz="1400" dirty="0"/>
            </a:br>
            <a:r>
              <a:rPr lang="en-US" sz="1400" dirty="0"/>
              <a:t>Nicolette - Anqi Xiang</a:t>
            </a:r>
            <a:br>
              <a:rPr lang="en-US" sz="1400" dirty="0"/>
            </a:br>
            <a:r>
              <a:rPr lang="en-US" sz="1400" dirty="0"/>
              <a:t>Sissi - </a:t>
            </a:r>
            <a:r>
              <a:rPr lang="en-US" sz="1400" dirty="0" err="1"/>
              <a:t>Nianxi</a:t>
            </a:r>
            <a:r>
              <a:rPr lang="en-US" sz="1400" dirty="0"/>
              <a:t> Wang</a:t>
            </a:r>
            <a:br>
              <a:rPr lang="en-US" sz="1400" dirty="0"/>
            </a:br>
            <a:r>
              <a:rPr lang="en-US" sz="1400" dirty="0" err="1"/>
              <a:t>Sozy</a:t>
            </a:r>
            <a:r>
              <a:rPr lang="en-US" sz="1400" dirty="0"/>
              <a:t> - Ziyi Shao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446543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3954d869-e968-4a97-a5df-48904ae487a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OfficePLUS 主题">
  <a:themeElements>
    <a:clrScheme name="iSlide VI标准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35BFA"/>
      </a:accent1>
      <a:accent2>
        <a:srgbClr val="B451FF"/>
      </a:accent2>
      <a:accent3>
        <a:srgbClr val="5E93FF"/>
      </a:accent3>
      <a:accent4>
        <a:srgbClr val="D41DD8"/>
      </a:accent4>
      <a:accent5>
        <a:srgbClr val="4047FF"/>
      </a:accent5>
      <a:accent6>
        <a:srgbClr val="7A1BB2"/>
      </a:accent6>
      <a:hlink>
        <a:srgbClr val="F84D4D"/>
      </a:hlink>
      <a:folHlink>
        <a:srgbClr val="979797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835BFA"/>
    </a:accent1>
    <a:accent2>
      <a:srgbClr val="B451FF"/>
    </a:accent2>
    <a:accent3>
      <a:srgbClr val="5E93FF"/>
    </a:accent3>
    <a:accent4>
      <a:srgbClr val="D41DD8"/>
    </a:accent4>
    <a:accent5>
      <a:srgbClr val="4047FF"/>
    </a:accent5>
    <a:accent6>
      <a:srgbClr val="7A1BB2"/>
    </a:accent6>
    <a:hlink>
      <a:srgbClr val="F84D4D"/>
    </a:hlink>
    <a:folHlink>
      <a:srgbClr val="979797"/>
    </a:folHlink>
  </a:clrScheme>
</a:themeOverride>
</file>

<file path=ppt/theme/themeOverride2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835BFA"/>
    </a:accent1>
    <a:accent2>
      <a:srgbClr val="B451FF"/>
    </a:accent2>
    <a:accent3>
      <a:srgbClr val="5E93FF"/>
    </a:accent3>
    <a:accent4>
      <a:srgbClr val="D41DD8"/>
    </a:accent4>
    <a:accent5>
      <a:srgbClr val="4047FF"/>
    </a:accent5>
    <a:accent6>
      <a:srgbClr val="7A1BB2"/>
    </a:accent6>
    <a:hlink>
      <a:srgbClr val="F84D4D"/>
    </a:hlink>
    <a:folHlink>
      <a:srgbClr val="979797"/>
    </a:folHlink>
  </a:clrScheme>
</a:themeOverride>
</file>

<file path=ppt/theme/themeOverride3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835BFA"/>
    </a:accent1>
    <a:accent2>
      <a:srgbClr val="B451FF"/>
    </a:accent2>
    <a:accent3>
      <a:srgbClr val="5E93FF"/>
    </a:accent3>
    <a:accent4>
      <a:srgbClr val="D41DD8"/>
    </a:accent4>
    <a:accent5>
      <a:srgbClr val="4047FF"/>
    </a:accent5>
    <a:accent6>
      <a:srgbClr val="7A1BB2"/>
    </a:accent6>
    <a:hlink>
      <a:srgbClr val="F84D4D"/>
    </a:hlink>
    <a:folHlink>
      <a:srgbClr val="979797"/>
    </a:folHlink>
  </a:clrScheme>
</a:themeOverride>
</file>

<file path=ppt/theme/themeOverride4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835BFA"/>
    </a:accent1>
    <a:accent2>
      <a:srgbClr val="B451FF"/>
    </a:accent2>
    <a:accent3>
      <a:srgbClr val="5E93FF"/>
    </a:accent3>
    <a:accent4>
      <a:srgbClr val="D41DD8"/>
    </a:accent4>
    <a:accent5>
      <a:srgbClr val="4047FF"/>
    </a:accent5>
    <a:accent6>
      <a:srgbClr val="7A1BB2"/>
    </a:accent6>
    <a:hlink>
      <a:srgbClr val="F84D4D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Rin</Template>
  <TotalTime>78</TotalTime>
  <Words>633</Words>
  <Application>Microsoft Office PowerPoint</Application>
  <PresentationFormat>Widescreen</PresentationFormat>
  <Paragraphs>72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等线</vt:lpstr>
      <vt:lpstr>Arial</vt:lpstr>
      <vt:lpstr>Wingdings</vt:lpstr>
      <vt:lpstr>OfficePLUS 主题</vt:lpstr>
      <vt:lpstr>Worksheet</vt:lpstr>
      <vt:lpstr>NFTz Critical Analysis</vt:lpstr>
      <vt:lpstr>PowerPoint Presentation</vt:lpstr>
      <vt:lpstr>Part I </vt:lpstr>
      <vt:lpstr>People - Introduction of the founders</vt:lpstr>
      <vt:lpstr>Opportunity(External factors)</vt:lpstr>
      <vt:lpstr>Context(Internal factors)</vt:lpstr>
      <vt:lpstr>Part II</vt:lpstr>
      <vt:lpstr>PowerPoint Presentation</vt:lpstr>
      <vt:lpstr>PowerPoint Presentation</vt:lpstr>
      <vt:lpstr>Part III</vt:lpstr>
      <vt:lpstr>Critical analysis -What makes NFTz stand out in both qualitative and quantitative matters</vt:lpstr>
      <vt:lpstr>Critical analysis -What makes NFTz stand out in both qualitative and quantitative matters</vt:lpstr>
      <vt:lpstr>Part IV. </vt:lpstr>
      <vt:lpstr>Overall prospect -From VC investors perspectives</vt:lpstr>
      <vt:lpstr>Overall prospect -From VC investors perspectives</vt:lpstr>
      <vt:lpstr>Overall prospect -From VC investors perspectives</vt:lpstr>
      <vt:lpstr>Conclusion</vt:lpstr>
      <vt:lpstr>PowerPoint Presentation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</dc:creator>
  <cp:lastModifiedBy>Vivian Wang</cp:lastModifiedBy>
  <cp:revision>48</cp:revision>
  <cp:lastPrinted>2023-01-30T16:00:00Z</cp:lastPrinted>
  <dcterms:created xsi:type="dcterms:W3CDTF">2023-01-30T16:00:00Z</dcterms:created>
  <dcterms:modified xsi:type="dcterms:W3CDTF">2026-05-27T08:07:13Z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3954d869-e968-4a97-a5df-48904ae487ae</vt:lpwstr>
  </property>
</Properties>
</file>